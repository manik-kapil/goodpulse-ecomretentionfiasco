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62B3D"/>
          </a:solidFill>
          <a:ln w="12700">
            <a:solidFill>
              <a:srgbClr val="262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5B9BD5">
              <a:alpha val="60000"/>
            </a:srgbClr>
          </a:solidFill>
          <a:ln w="12700">
            <a:solidFill>
              <a:srgbClr val="5B9BD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329184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A8C8E8"/>
                </a:solidFill>
              </a:rPr>
              <a:t>Portfolio Case Study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End-to-End E-Commerce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Analytics Platform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3657600" cy="36576"/>
          </a:xfrm>
          <a:prstGeom prst="rect">
            <a:avLst/>
          </a:prstGeom>
          <a:solidFill>
            <a:srgbClr val="5B9BD5">
              <a:alpha val="6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434840"/>
            <a:ext cx="1143000" cy="292608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434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</a:rPr>
              <a:t>Amazon S3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783080" y="4434840"/>
            <a:ext cx="1143000" cy="292608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83080" y="4434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</a:rPr>
              <a:t>Databricks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017520" y="4434840"/>
            <a:ext cx="1143000" cy="292608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4434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</a:rPr>
              <a:t>Medallion Architecture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251960" y="4434840"/>
            <a:ext cx="1143000" cy="292608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4434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</a:rPr>
              <a:t>Looker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0" y="4434840"/>
            <a:ext cx="1143000" cy="292608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4434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E8"/>
                </a:solidFill>
              </a:rPr>
              <a:t>Python / SQL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766560" y="457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C8E8"/>
                </a:solidFill>
              </a:rPr>
              <a:t>Key Outcomes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66560" y="8686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</a:rPr>
              <a:t>93,358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766560" y="1216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Customers analysed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766560" y="17099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</a:rPr>
              <a:t>$15.49M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76656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Revenue tracked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766560" y="25511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</a:rPr>
              <a:t>4 KPIs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766560" y="2898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Defined &amp; tracked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766560" y="33924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</a:rPr>
              <a:t>3 Gold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766560" y="37398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Analytical tables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18288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60120"/>
            <a:ext cx="54864" cy="36576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</a:rPr>
              <a:t>What is GoodPulse?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5A"/>
                </a:solidFill>
              </a:rPr>
              <a:t>GoodPulse is a cloud-native e-commerce analytics platform built on the 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A4A5A"/>
                </a:solidFill>
              </a:rPr>
              <a:t>Olist marketplace dataset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5A"/>
                </a:solidFill>
              </a:rPr>
              <a:t> (Kaggle). It ingests raw transactional and marketing data from 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A4A5A"/>
                </a:solidFill>
              </a:rPr>
              <a:t>Amazon S3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5A"/>
                </a:solidFill>
              </a:rPr>
              <a:t>, transforms it through a 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A4A5A"/>
                </a:solidFill>
              </a:rPr>
              <a:t>Medallion Architecture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5A"/>
                </a:solidFill>
              </a:rPr>
              <a:t> in Databricks, and surfaces insights in a 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A4A5A"/>
                </a:solidFill>
              </a:rPr>
              <a:t>Looker executive dashboard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5A"/>
                </a:solidFill>
              </a:rPr>
              <a:t>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30"/>
                </a:solidFill>
              </a:rPr>
              <a:t>Reporting Period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3154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Q3 2016 – Q2 2018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Period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331720" y="3154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93,358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33172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Customers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3749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$15.49M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2920" y="40050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Revenue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331720" y="3749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96.5K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331720" y="40050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Orders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63440" y="9601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0" y="960120"/>
            <a:ext cx="54864" cy="3657600"/>
          </a:xfrm>
          <a:prstGeom prst="rect">
            <a:avLst/>
          </a:prstGeom>
          <a:solidFill>
            <a:srgbClr val="3A7EBF"/>
          </a:solidFill>
          <a:ln w="12700">
            <a:solidFill>
              <a:srgbClr val="3A7EB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57800" y="10515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</a:rPr>
              <a:t>Medallion Architecture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800600" y="1600200"/>
            <a:ext cx="82296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0060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BRONZE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715000" y="16002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A5A"/>
                </a:solidFill>
              </a:rPr>
              <a:t>Raw ingestion from S3 — schema validation, null profiling, data typing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193792" y="1856232"/>
            <a:ext cx="36576" cy="18288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00600" y="2350008"/>
            <a:ext cx="822960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00600" y="2350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SILVER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5715000" y="23500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A5A"/>
                </a:solidFill>
              </a:rPr>
              <a:t>Cleaning, deduplication, merging → unified_user_lifecycle base table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193792" y="2606040"/>
            <a:ext cx="36576" cy="18288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800600" y="3099816"/>
            <a:ext cx="822960" cy="256032"/>
          </a:xfrm>
          <a:prstGeom prst="rect">
            <a:avLst/>
          </a:prstGeom>
          <a:solidFill>
            <a:srgbClr val="2ECC8B"/>
          </a:solidFill>
          <a:ln w="12700">
            <a:solidFill>
              <a:srgbClr val="2ECC8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800600" y="3099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GOLD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715000" y="30998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A5A"/>
                </a:solidFill>
              </a:rPr>
              <a:t>Business logic → customer_segmentation · cohort_analysis · unified_lifecycle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193792" y="3355848"/>
            <a:ext cx="36576" cy="18288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800600" y="3849624"/>
            <a:ext cx="822960" cy="256032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800600" y="38496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LOOKER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5715000" y="38496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A5A"/>
                </a:solidFill>
              </a:rPr>
              <a:t>Semantic layer — Executive dashboard with KPIs, segmentation &amp; cohort views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2B3D"/>
          </a:solidFill>
          <a:ln w="12700">
            <a:solidFill>
              <a:srgbClr val="262B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18288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OKR → KPI → Metric Framework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914400" y="960120"/>
            <a:ext cx="7315200" cy="56692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960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OKRs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286000" y="96012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</a:rPr>
              <a:t>The change we want to execute — the goals everything serves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71600" y="1709928"/>
            <a:ext cx="6400800" cy="566928"/>
          </a:xfrm>
          <a:prstGeom prst="rect">
            <a:avLst/>
          </a:prstGeom>
          <a:solidFill>
            <a:srgbClr val="3A7EBF"/>
          </a:solidFill>
          <a:ln w="12700">
            <a:solidFill>
              <a:srgbClr val="3A7E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8760" y="17099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KPIs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743200" y="17099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</a:rPr>
              <a:t>Metrics that genuinely reflect performance and are influenceable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28800" y="2459736"/>
            <a:ext cx="5486400" cy="566928"/>
          </a:xfrm>
          <a:prstGeom prst="rect">
            <a:avLst/>
          </a:prstGeom>
          <a:solidFill>
            <a:srgbClr val="262B3D"/>
          </a:solidFill>
          <a:ln w="12700">
            <a:solidFill>
              <a:srgbClr val="262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65960" y="245973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Metrics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200400" y="245973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8"/>
                </a:solidFill>
              </a:rPr>
              <a:t>Any quantitative value we can track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8C8E8"/>
                </a:solidFill>
              </a:rPr>
              <a:t>This Project's Objectives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3703320"/>
            <a:ext cx="2011680" cy="1097280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703320"/>
            <a:ext cx="2011680" cy="2743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Increase customer LTV &amp; revenue per customer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KPI: Revenue Concentration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514600" y="3703320"/>
            <a:ext cx="2011680" cy="1097280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514600" y="3703320"/>
            <a:ext cx="2011680" cy="2743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1460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60604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Improve retention &amp; reduce churn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60604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KPI: Month 1 Retention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663440" y="3703320"/>
            <a:ext cx="2011680" cy="1097280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3703320"/>
            <a:ext cx="2011680" cy="2743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75488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Convert first-time buyers into repeat customers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5488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KPI: Repeat Purchase Rate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812280" y="3703320"/>
            <a:ext cx="2011680" cy="1097280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12280" y="3703320"/>
            <a:ext cx="2011680" cy="2743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1228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0372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Grow active revenue base faster than churn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90372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KPI: Active Revenue Share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18288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Northstar Metrics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14400"/>
            <a:ext cx="54864" cy="10058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024128"/>
            <a:ext cx="138988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9BD5"/>
                </a:solidFill>
              </a:rPr>
              <a:t>93,358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84048" y="1497787"/>
            <a:ext cx="13898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Total Customers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93392" y="914400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93392" y="914400"/>
            <a:ext cx="54864" cy="1005840"/>
          </a:xfrm>
          <a:prstGeom prst="rect">
            <a:avLst/>
          </a:prstGeom>
          <a:solidFill>
            <a:srgbClr val="2ECC8B"/>
          </a:solidFill>
          <a:ln w="12700">
            <a:solidFill>
              <a:srgbClr val="2ECC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1024128"/>
            <a:ext cx="138988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C8B"/>
                </a:solidFill>
              </a:rPr>
              <a:t>$15.49M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03120" y="1497787"/>
            <a:ext cx="13898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12464" y="914400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12464" y="914400"/>
            <a:ext cx="54864" cy="10058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22192" y="1024128"/>
            <a:ext cx="138988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9BD5"/>
                </a:solidFill>
              </a:rPr>
              <a:t>$160.32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822192" y="1497787"/>
            <a:ext cx="13898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31536" y="914400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31536" y="914400"/>
            <a:ext cx="54864" cy="10058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41264" y="1024128"/>
            <a:ext cx="138988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9BD5"/>
                </a:solidFill>
              </a:rPr>
              <a:t>96.5K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5541264" y="1497787"/>
            <a:ext cx="13898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50608" y="914400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50608" y="914400"/>
            <a:ext cx="54864" cy="100584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0336" y="1024128"/>
            <a:ext cx="138988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555"/>
                </a:solidFill>
              </a:rPr>
              <a:t>3.00%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260336" y="1497787"/>
            <a:ext cx="13898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Repeat Rate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2103120"/>
            <a:ext cx="859536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0C41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4000"/>
                </a:solidFill>
              </a:rPr>
              <a:t>⚠  Two numbers demand immediate attention: a 3% repeat rate and only 19 Power Users out of 93,358 customers. The platform is excellent at acquiring customers — but very poor at retaining them.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2880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130"/>
                </a:solidFill>
              </a:rPr>
              <a:t>Revenue per Customer by Value Tier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188720" y="3246120"/>
            <a:ext cx="4114800" cy="3200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3246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130"/>
                </a:solidFill>
              </a:rPr>
              <a:t>High Value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349240" y="3246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$436.3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88720" y="3776472"/>
            <a:ext cx="1074205" cy="320040"/>
          </a:xfrm>
          <a:prstGeom prst="rect">
            <a:avLst/>
          </a:prstGeom>
          <a:solidFill>
            <a:srgbClr val="3A7EBF"/>
          </a:solidFill>
          <a:ln w="12700">
            <a:solidFill>
              <a:srgbClr val="3A7EB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37764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130"/>
                </a:solidFill>
              </a:rPr>
              <a:t>Mid Value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308645" y="3776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BF"/>
                </a:solidFill>
              </a:rPr>
              <a:t>$113.9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188720" y="4306824"/>
            <a:ext cx="375359" cy="32004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0040" y="430682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130"/>
                </a:solidFill>
              </a:rPr>
              <a:t>Low Value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609799" y="43068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8E8"/>
                </a:solidFill>
              </a:rPr>
              <a:t>$39.8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029200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130"/>
                </a:solidFill>
              </a:rPr>
              <a:t>Customer Frequency Breakdown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029200" y="3246120"/>
            <a:ext cx="3474720" cy="3200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One-time  90,600  (94.03%)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486400" y="3776472"/>
            <a:ext cx="2560320" cy="320040"/>
          </a:xfrm>
          <a:prstGeom prst="rect">
            <a:avLst/>
          </a:prstGeom>
          <a:solidFill>
            <a:srgbClr val="3A7EBF"/>
          </a:solidFill>
          <a:ln w="12700">
            <a:solidFill>
              <a:srgbClr val="3A7EB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0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Regular  2,800  (5.87%)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943600" y="4306824"/>
            <a:ext cx="1645920" cy="32004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43600" y="43068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Power User  19  (0.10%)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18288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RFM Customer Segmentation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130"/>
                </a:solidFill>
              </a:rPr>
              <a:t>How segments are built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1097280" cy="10972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6576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Recency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A5A"/>
                </a:solidFill>
              </a:rPr>
              <a:t>How recently did they last buy?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00200" y="1280160"/>
            <a:ext cx="1097280" cy="1097280"/>
          </a:xfrm>
          <a:prstGeom prst="rect">
            <a:avLst/>
          </a:prstGeom>
          <a:solidFill>
            <a:srgbClr val="3A7EBF"/>
          </a:solidFill>
          <a:ln w="12700">
            <a:solidFill>
              <a:srgbClr val="3A7E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60020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60020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Frequency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5448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A5A"/>
                </a:solidFill>
              </a:rPr>
              <a:t>How many times have they bought?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834640" y="1280160"/>
            <a:ext cx="1097280" cy="109728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83464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283464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Monetary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8892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A5A"/>
                </a:solidFill>
              </a:rPr>
              <a:t>How much have they spent in total?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0233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</a:rPr>
              <a:t>+  Lifecycle Flag  →  Segment Label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023360" y="2148840"/>
            <a:ext cx="4754880" cy="36576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Active  |  High Value  |  Regular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023360" y="2651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Lifecycle Flag        RFM Value Tier       Frequency Tier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65760" y="3017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130"/>
                </a:solidFill>
              </a:rPr>
              <a:t>Top Segments by Customer Count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3401568"/>
            <a:ext cx="8412480" cy="301752"/>
          </a:xfrm>
          <a:prstGeom prst="rect">
            <a:avLst/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3401568"/>
            <a:ext cx="73152" cy="3017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340156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4A"/>
                </a:solidFill>
              </a:rPr>
              <a:t>Dormant | Mid Value | One-time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023360" y="340156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18,800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34015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080"/>
                </a:solidFill>
              </a:rPr>
              <a:t>Largest segment — lapsed mid-tier buyers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65760" y="3739896"/>
            <a:ext cx="8412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5760" y="3739896"/>
            <a:ext cx="73152" cy="3017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373989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4A"/>
                </a:solidFill>
              </a:rPr>
              <a:t>Active | Mid Value | One-time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023360" y="373989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17,900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2040" y="37398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080"/>
                </a:solidFill>
              </a:rPr>
              <a:t>Most actionable — recent, recoverable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65760" y="4078224"/>
            <a:ext cx="8412480" cy="301752"/>
          </a:xfrm>
          <a:prstGeom prst="rect">
            <a:avLst/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65760" y="4078224"/>
            <a:ext cx="73152" cy="3017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407822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4A"/>
                </a:solidFill>
              </a:rPr>
              <a:t>At Risk | Mid Value | One-time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023360" y="407822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39"/>
                </a:solidFill>
              </a:rPr>
              <a:t>17,300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892040" y="40782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080"/>
                </a:solidFill>
              </a:rPr>
              <a:t>Declining engagement — intervention needed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65760" y="4416552"/>
            <a:ext cx="8412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65760" y="4416552"/>
            <a:ext cx="73152" cy="30175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441655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4A"/>
                </a:solidFill>
              </a:rPr>
              <a:t>Dormant | High Value | One-time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023360" y="441655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5555"/>
                </a:solidFill>
              </a:rPr>
              <a:t> 6,300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892040" y="44165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080"/>
                </a:solidFill>
              </a:rPr>
              <a:t>Critical win-back target — $4.9M lapsed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65760" y="4754880"/>
            <a:ext cx="8412480" cy="301752"/>
          </a:xfrm>
          <a:prstGeom prst="rect">
            <a:avLst/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65760" y="4754880"/>
            <a:ext cx="73152" cy="301752"/>
          </a:xfrm>
          <a:prstGeom prst="rect">
            <a:avLst/>
          </a:prstGeom>
          <a:solidFill>
            <a:srgbClr val="2ECC8B"/>
          </a:solidFill>
          <a:ln w="12700">
            <a:solidFill>
              <a:srgbClr val="2ECC8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02920" y="475488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4A"/>
                </a:solidFill>
              </a:rPr>
              <a:t>Active | High Value | Regular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023360" y="475488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C8B"/>
                </a:solidFill>
              </a:rPr>
              <a:t>   593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92040" y="47548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080"/>
                </a:solidFill>
              </a:rPr>
              <a:t>Platform's VIP tier — protect at all costs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2B3D"/>
          </a:solidFill>
          <a:ln w="12700">
            <a:solidFill>
              <a:srgbClr val="262B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18288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KPI Deep-Dive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4160520" cy="1828800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960120"/>
            <a:ext cx="502920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960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 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60120" y="960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 1 Retention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969264"/>
            <a:ext cx="777240" cy="237744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9692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11480" y="1325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555"/>
                </a:solidFill>
              </a:rPr>
              <a:t>~0.5%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11480" y="18288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8E8"/>
                </a:solidFill>
              </a:rPr>
              <a:t>Fewer than 1 in 150 customers makes a second purchase after their first order. The steep drop at index 1 signals no post-purchase engagement exists.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4048" y="2331720"/>
            <a:ext cx="3931920" cy="2560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CC8B"/>
                </a:solidFill>
              </a:rPr>
              <a:t>→ 7/14/30-day post-purchase email sequence → +$103K per 1% improvement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13533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OKR: O2 + O3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26080"/>
            <a:ext cx="4160520" cy="34747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71800"/>
            <a:ext cx="502920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71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 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60120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Repeat Purchase Rate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566160" y="2980944"/>
            <a:ext cx="777240" cy="237744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66160" y="29809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11480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555"/>
                </a:solidFill>
              </a:rPr>
              <a:t>3.07%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411480" y="38404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8E8"/>
                </a:solidFill>
              </a:rPr>
              <a:t>97% of customers never return. One-time → Regular conversion at 3.07%, Power User at 0.02%. No graduation path from casual to loyal.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84048" y="4343400"/>
            <a:ext cx="3931920" cy="2560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CC8B"/>
                </a:solidFill>
              </a:rPr>
              <a:t>→ Loyalty programme → moving to 5% repeat rate adds ~$213K incremental revenue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600200" y="33649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OKR: O3 + O1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54880" y="914400"/>
            <a:ext cx="4160520" cy="1828800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914400"/>
            <a:ext cx="4160520" cy="34747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64608" y="960120"/>
            <a:ext cx="502920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64608" y="960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 3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440680" y="960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Active Revenue Share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046720" y="969264"/>
            <a:ext cx="777240" cy="23774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46720" y="9692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AT RISK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892040" y="1325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B39"/>
                </a:solidFill>
              </a:rPr>
              <a:t>34.03%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4892040" y="18288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8E8"/>
                </a:solidFill>
              </a:rPr>
              <a:t>Dormant ($5.4M) now exceeds Active ($5.3M). Over 65% of all revenue-generating customers are either already gone or trending that way.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864608" y="2331720"/>
            <a:ext cx="3931920" cy="2560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37760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CC8B"/>
                </a:solidFill>
              </a:rPr>
              <a:t>→ Target: 34% → 45% Active share in 12 months via win-back + retention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080760" y="13533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OKR: O4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754880" y="2926080"/>
            <a:ext cx="4160520" cy="1828800"/>
          </a:xfrm>
          <a:prstGeom prst="rect">
            <a:avLst/>
          </a:prstGeom>
          <a:solidFill>
            <a:srgbClr val="262B3D"/>
          </a:solidFill>
          <a:ln w="1016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754880" y="2926080"/>
            <a:ext cx="4160520" cy="34747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864608" y="2971800"/>
            <a:ext cx="502920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64608" y="2971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5440680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Concentration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046720" y="2980944"/>
            <a:ext cx="777240" cy="23774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046720" y="29809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AT RISK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892040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B39"/>
                </a:solidFill>
              </a:rPr>
              <a:t>54.6%</a:t>
            </a:r>
            <a:endParaRPr lang="en-US" sz="2600" dirty="0"/>
          </a:p>
        </p:txBody>
      </p:sp>
      <p:sp>
        <p:nvSpPr>
          <p:cNvPr id="49" name="Text 46"/>
          <p:cNvSpPr/>
          <p:nvPr/>
        </p:nvSpPr>
        <p:spPr>
          <a:xfrm>
            <a:off x="4892040" y="38404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8E8"/>
                </a:solidFill>
              </a:rPr>
              <a:t>54.6% of revenue from High Value tier — but 11,300 of those customers are Dormant, holding $4.9M in lapsed value. Top tier is net-declining.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864608" y="4343400"/>
            <a:ext cx="3931920" cy="2560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93776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CC8B"/>
                </a:solidFill>
              </a:rPr>
              <a:t>→ Win back 10% of Dormant High Value pool = ~$490K recovered revenue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080760" y="33649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OKR: O1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18288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Cohort Retention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130"/>
                </a:solidFill>
              </a:rPr>
              <a:t>Cohort Retention Heatmap  (retention_rate %)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325880" y="1261872"/>
            <a:ext cx="9144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25880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C8E8"/>
                </a:solidFill>
              </a:rPr>
              <a:t>Index 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258568" y="1261872"/>
            <a:ext cx="9144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58568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C8E8"/>
                </a:solidFill>
              </a:rPr>
              <a:t>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191256" y="1261872"/>
            <a:ext cx="9144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91256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C8E8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23944" y="1261872"/>
            <a:ext cx="9144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23944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C8E8"/>
                </a:solidFill>
              </a:rPr>
              <a:t>3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056632" y="1261872"/>
            <a:ext cx="9144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C8E8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989320" y="1261872"/>
            <a:ext cx="9144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C8E8"/>
                </a:solidFill>
              </a:rPr>
              <a:t>5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922008" y="1261872"/>
            <a:ext cx="9144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22008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C8E8"/>
                </a:solidFill>
              </a:rPr>
              <a:t>6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854696" y="1261872"/>
            <a:ext cx="914400" cy="256032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54696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C8E8"/>
                </a:solidFill>
              </a:rPr>
              <a:t>7+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65760" y="1554480"/>
            <a:ext cx="8229600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130"/>
                </a:solidFill>
              </a:rPr>
              <a:t>Q1 2017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344168" y="1581912"/>
            <a:ext cx="877824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25880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76856" y="1581912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58568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9544" y="1581912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191256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42232" y="1581912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23944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074920" y="1581912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56632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0.2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07608" y="1581912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9320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940296" y="1581912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22008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872984" y="1581912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54696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0.2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65760" y="1901952"/>
            <a:ext cx="8229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" y="1901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130"/>
                </a:solidFill>
              </a:rPr>
              <a:t>Q2 2017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344168" y="1929384"/>
            <a:ext cx="877824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325880" y="1901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276856" y="1929384"/>
            <a:ext cx="877824" cy="256032"/>
          </a:xfrm>
          <a:prstGeom prst="rect">
            <a:avLst/>
          </a:prstGeom>
          <a:solidFill>
            <a:srgbClr val="C8E0F4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258568" y="1901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0.5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9544" y="1929384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191256" y="1901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0.4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142232" y="1929384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123944" y="1901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074920" y="1929384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56632" y="1901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0.4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007608" y="1929384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989320" y="1901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940296" y="1929384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922008" y="1901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65760" y="2249424"/>
            <a:ext cx="8229600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84048" y="2249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130"/>
                </a:solidFill>
              </a:rPr>
              <a:t>Q3 2017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1344168" y="2276856"/>
            <a:ext cx="877824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325880" y="2249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76856" y="2276856"/>
            <a:ext cx="877824" cy="256032"/>
          </a:xfrm>
          <a:prstGeom prst="rect">
            <a:avLst/>
          </a:prstGeom>
          <a:solidFill>
            <a:srgbClr val="C8E0F4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258568" y="2249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0.6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3209544" y="2276856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191256" y="2249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0.4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4142232" y="2276856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123944" y="2249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0.4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5074920" y="2276856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056632" y="2249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6007608" y="2276856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989320" y="2249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0.2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365760" y="2596896"/>
            <a:ext cx="8229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" y="25968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130"/>
                </a:solidFill>
              </a:rPr>
              <a:t>Q4 2017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1344168" y="2624328"/>
            <a:ext cx="877824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25880" y="25968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2276856" y="2624328"/>
            <a:ext cx="877824" cy="256032"/>
          </a:xfrm>
          <a:prstGeom prst="rect">
            <a:avLst/>
          </a:prstGeom>
          <a:solidFill>
            <a:srgbClr val="C8E0F4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2258568" y="25968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0.5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3209544" y="2624328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191256" y="25968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4142232" y="2624328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123944" y="25968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0.2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5074920" y="2624328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056632" y="25968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0.2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365760" y="2944368"/>
            <a:ext cx="8229600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84048" y="29443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130"/>
                </a:solidFill>
              </a:rPr>
              <a:t>Q1 2018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1344168" y="2971800"/>
            <a:ext cx="877824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325880" y="29443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2276856" y="2971800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2258568" y="29443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0.4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3209544" y="2971800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191256" y="29443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0.4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4142232" y="2971800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123944" y="29443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0.2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365760" y="3291840"/>
            <a:ext cx="8229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384048" y="3291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130"/>
                </a:solidFill>
              </a:rPr>
              <a:t>Q2 2018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1344168" y="3319272"/>
            <a:ext cx="877824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325880" y="3291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2276856" y="3319272"/>
            <a:ext cx="877824" cy="256032"/>
          </a:xfrm>
          <a:prstGeom prst="rect">
            <a:avLst/>
          </a:prstGeom>
          <a:solidFill>
            <a:srgbClr val="C8E0F4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2258568" y="3291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0.5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3209544" y="3319272"/>
            <a:ext cx="877824" cy="256032"/>
          </a:xfrm>
          <a:prstGeom prst="rect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91256" y="3291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0.3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365760" y="3639312"/>
            <a:ext cx="8229600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384048" y="3639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130"/>
                </a:solidFill>
              </a:rPr>
              <a:t>Q3 2018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1344168" y="3666744"/>
            <a:ext cx="877824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325880" y="3639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</a:t>
            </a:r>
            <a:endParaRPr lang="en-US" sz="900" dirty="0"/>
          </a:p>
        </p:txBody>
      </p:sp>
      <p:sp>
        <p:nvSpPr>
          <p:cNvPr id="104" name="Shape 101"/>
          <p:cNvSpPr/>
          <p:nvPr/>
        </p:nvSpPr>
        <p:spPr>
          <a:xfrm>
            <a:off x="2276856" y="3666744"/>
            <a:ext cx="877824" cy="256032"/>
          </a:xfrm>
          <a:prstGeom prst="rect">
            <a:avLst/>
          </a:prstGeom>
          <a:solidFill>
            <a:srgbClr val="C8E0F4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2258568" y="3639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30"/>
                </a:solidFill>
              </a:rPr>
              <a:t>0.5</a:t>
            </a:r>
            <a:endParaRPr lang="en-US" sz="900" dirty="0"/>
          </a:p>
        </p:txBody>
      </p:sp>
      <p:sp>
        <p:nvSpPr>
          <p:cNvPr id="106" name="Shape 103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1E2130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7" name="Shape 104"/>
          <p:cNvSpPr/>
          <p:nvPr/>
        </p:nvSpPr>
        <p:spPr>
          <a:xfrm>
            <a:off x="365760" y="3977640"/>
            <a:ext cx="73152" cy="8229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548640" y="4023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A8C8E8"/>
                </a:solidFill>
              </a:rPr>
              <a:t>Key Finding: 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8D8E8"/>
                </a:solidFill>
              </a:rPr>
              <a:t>Every cohort drops from 100% to &lt;1% retention within a single period. Period 1 retention sits at 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5B9BD5"/>
                </a:solidFill>
              </a:rPr>
              <a:t>0.3%–0.6%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8D8E8"/>
                </a:solidFill>
              </a:rPr>
              <a:t> across all cohorts — fewer than 1 in 150 customers returns. Critically, 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7B39"/>
                </a:solidFill>
              </a:rPr>
              <a:t>no cohort shows improvement over time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8D8E8"/>
                </a:solidFill>
              </a:rPr>
              <a:t> — ruling out growing pains. This is a structural post-purchase engagement problem.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2B3D"/>
          </a:solidFill>
          <a:ln w="12700">
            <a:solidFill>
              <a:srgbClr val="262B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18288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Recommendations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8412480" cy="576072"/>
          </a:xfrm>
          <a:prstGeom prst="rect">
            <a:avLst/>
          </a:prstGeom>
          <a:solidFill>
            <a:srgbClr val="262B3D"/>
          </a:solidFill>
          <a:ln w="6350">
            <a:solidFill>
              <a:srgbClr val="E055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14400"/>
            <a:ext cx="73152" cy="57607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" y="1024128"/>
            <a:ext cx="1005840" cy="201168"/>
          </a:xfrm>
          <a:prstGeom prst="rect">
            <a:avLst/>
          </a:prstGeom>
          <a:solidFill>
            <a:srgbClr val="E05555">
              <a:alpha val="25000"/>
            </a:srgbClr>
          </a:solidFill>
          <a:ln w="6350">
            <a:solidFill>
              <a:srgbClr val="E055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1024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5555"/>
                </a:solidFill>
              </a:rPr>
              <a:t>🔴 Critical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627632" y="9692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Post-purchase email nurture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27632" y="12252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Day 7 / 14 / 30 sequence with personalised recommendations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92240" y="1042416"/>
            <a:ext cx="2148840" cy="274320"/>
          </a:xfrm>
          <a:prstGeom prst="rect">
            <a:avLst/>
          </a:prstGeom>
          <a:solidFill>
            <a:srgbClr val="E05555">
              <a:alpha val="20000"/>
            </a:srgbClr>
          </a:solidFill>
          <a:ln w="10160">
            <a:solidFill>
              <a:srgbClr val="E055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0424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555"/>
                </a:solidFill>
              </a:rPr>
              <a:t>+1–2% Month 1 retention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1581912"/>
            <a:ext cx="8412480" cy="576072"/>
          </a:xfrm>
          <a:prstGeom prst="rect">
            <a:avLst/>
          </a:prstGeom>
          <a:solidFill>
            <a:srgbClr val="262B3D"/>
          </a:solidFill>
          <a:ln w="6350">
            <a:solidFill>
              <a:srgbClr val="E055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1581912"/>
            <a:ext cx="73152" cy="57607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0352" y="1691640"/>
            <a:ext cx="1005840" cy="201168"/>
          </a:xfrm>
          <a:prstGeom prst="rect">
            <a:avLst/>
          </a:prstGeom>
          <a:solidFill>
            <a:srgbClr val="E05555">
              <a:alpha val="25000"/>
            </a:srgbClr>
          </a:solidFill>
          <a:ln w="6350">
            <a:solidFill>
              <a:srgbClr val="E055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1691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5555"/>
                </a:solidFill>
              </a:rPr>
              <a:t>🔴 Critical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627632" y="1636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Win-back Dormant High Value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627632" y="18928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Target 11.3K dormant customers with tailored re-engagement offers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92240" y="1709928"/>
            <a:ext cx="2148840" cy="274320"/>
          </a:xfrm>
          <a:prstGeom prst="rect">
            <a:avLst/>
          </a:prstGeom>
          <a:solidFill>
            <a:srgbClr val="E05555">
              <a:alpha val="20000"/>
            </a:srgbClr>
          </a:solidFill>
          <a:ln w="10160">
            <a:solidFill>
              <a:srgbClr val="E055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17099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555"/>
                </a:solidFill>
              </a:rPr>
              <a:t>~$490K recoverable revenue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2249424"/>
            <a:ext cx="8412480" cy="576072"/>
          </a:xfrm>
          <a:prstGeom prst="rect">
            <a:avLst/>
          </a:prstGeom>
          <a:solidFill>
            <a:srgbClr val="262B3D"/>
          </a:solidFill>
          <a:ln w="6350">
            <a:solidFill>
              <a:srgbClr val="E0555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249424"/>
            <a:ext cx="73152" cy="57607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0352" y="2359152"/>
            <a:ext cx="1005840" cy="201168"/>
          </a:xfrm>
          <a:prstGeom prst="rect">
            <a:avLst/>
          </a:prstGeom>
          <a:solidFill>
            <a:srgbClr val="E05555">
              <a:alpha val="25000"/>
            </a:srgbClr>
          </a:solidFill>
          <a:ln w="6350">
            <a:solidFill>
              <a:srgbClr val="E055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2359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5555"/>
                </a:solidFill>
              </a:rPr>
              <a:t>🔴 Critical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627632" y="2304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 Risk early-warning system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627632" y="25603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Automated recency triggers to flag declining customers before they lapse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92240" y="2377440"/>
            <a:ext cx="2148840" cy="274320"/>
          </a:xfrm>
          <a:prstGeom prst="rect">
            <a:avLst/>
          </a:prstGeom>
          <a:solidFill>
            <a:srgbClr val="E05555">
              <a:alpha val="20000"/>
            </a:srgbClr>
          </a:solidFill>
          <a:ln w="10160">
            <a:solidFill>
              <a:srgbClr val="E055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2377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555"/>
                </a:solidFill>
              </a:rPr>
              <a:t>Protect $4.8M at-risk pool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65760" y="2916936"/>
            <a:ext cx="8412480" cy="576072"/>
          </a:xfrm>
          <a:prstGeom prst="rect">
            <a:avLst/>
          </a:prstGeom>
          <a:solidFill>
            <a:srgbClr val="262B3D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5760" y="2916936"/>
            <a:ext cx="73152" cy="5760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0352" y="3026664"/>
            <a:ext cx="1005840" cy="201168"/>
          </a:xfrm>
          <a:prstGeom prst="rect">
            <a:avLst/>
          </a:prstGeom>
          <a:solidFill>
            <a:srgbClr val="E07B39">
              <a:alpha val="25000"/>
            </a:srgbClr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3026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7B39"/>
                </a:solidFill>
              </a:rPr>
              <a:t>🟡 High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627632" y="2971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Loyalty programme launch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627632" y="32278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Points-based rewards tied to second and third purchases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492240" y="3044952"/>
            <a:ext cx="2148840" cy="274320"/>
          </a:xfrm>
          <a:prstGeom prst="rect">
            <a:avLst/>
          </a:prstGeom>
          <a:solidFill>
            <a:srgbClr val="E07B39">
              <a:alpha val="20000"/>
            </a:srgbClr>
          </a:solidFill>
          <a:ln w="10160">
            <a:solidFill>
              <a:srgbClr val="E07B3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92240" y="30449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3% → 5% repeat (+$213K)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" y="3584448"/>
            <a:ext cx="8412480" cy="576072"/>
          </a:xfrm>
          <a:prstGeom prst="rect">
            <a:avLst/>
          </a:prstGeom>
          <a:solidFill>
            <a:srgbClr val="262B3D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5760" y="3584448"/>
            <a:ext cx="73152" cy="5760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0352" y="3694176"/>
            <a:ext cx="1005840" cy="201168"/>
          </a:xfrm>
          <a:prstGeom prst="rect">
            <a:avLst/>
          </a:prstGeom>
          <a:solidFill>
            <a:srgbClr val="E07B39">
              <a:alpha val="25000"/>
            </a:srgbClr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0352" y="3694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7B39"/>
                </a:solidFill>
              </a:rPr>
              <a:t>🟡 High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1627632" y="36393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Delivery SLA improvements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627632" y="38953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Target sub-20 day standard; proactive tracking notifications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492240" y="3712464"/>
            <a:ext cx="2148840" cy="274320"/>
          </a:xfrm>
          <a:prstGeom prst="rect">
            <a:avLst/>
          </a:prstGeom>
          <a:solidFill>
            <a:srgbClr val="E07B39">
              <a:alpha val="20000"/>
            </a:srgbClr>
          </a:solidFill>
          <a:ln w="10160">
            <a:solidFill>
              <a:srgbClr val="E07B3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92240" y="37124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Review score 3.29 → 4.0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65760" y="4251960"/>
            <a:ext cx="8412480" cy="576072"/>
          </a:xfrm>
          <a:prstGeom prst="rect">
            <a:avLst/>
          </a:prstGeom>
          <a:solidFill>
            <a:srgbClr val="262B3D"/>
          </a:solidFill>
          <a:ln w="6350">
            <a:solidFill>
              <a:srgbClr val="2ECC8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65760" y="4251960"/>
            <a:ext cx="73152" cy="576072"/>
          </a:xfrm>
          <a:prstGeom prst="rect">
            <a:avLst/>
          </a:prstGeom>
          <a:solidFill>
            <a:srgbClr val="2ECC8B"/>
          </a:solidFill>
          <a:ln w="12700">
            <a:solidFill>
              <a:srgbClr val="2ECC8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30352" y="4361688"/>
            <a:ext cx="1005840" cy="201168"/>
          </a:xfrm>
          <a:prstGeom prst="rect">
            <a:avLst/>
          </a:prstGeom>
          <a:solidFill>
            <a:srgbClr val="2ECC8B">
              <a:alpha val="25000"/>
            </a:srgbClr>
          </a:solidFill>
          <a:ln w="6350">
            <a:solidFill>
              <a:srgbClr val="2ECC8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0352" y="4361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CC8B"/>
                </a:solidFill>
              </a:rPr>
              <a:t>🟢 Medium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1627632" y="43068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 high-efficiency leads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627632" y="45628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online_beginner &amp; Industry channels — highest revenue per lead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492240" y="4379976"/>
            <a:ext cx="2148840" cy="274320"/>
          </a:xfrm>
          <a:prstGeom prst="rect">
            <a:avLst/>
          </a:prstGeom>
          <a:solidFill>
            <a:srgbClr val="2ECC8B">
              <a:alpha val="20000"/>
            </a:srgbClr>
          </a:solidFill>
          <a:ln w="10160">
            <a:solidFill>
              <a:srgbClr val="2ECC8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92240" y="43799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8B"/>
                </a:solidFill>
              </a:rPr>
              <a:t>Improved avg LTV mix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</a:rPr>
              <a:t>12-Month OKR Targets:    Repeat rate  3% → 6%    ·    Month 1 retention  0.5% → 2%    ·    Active revenue share  34% → 45%    ·    Review score  3.29 → 4.0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18288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Skills Covered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9144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14400"/>
            <a:ext cx="54864" cy="18288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968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</a:rPr>
              <a:t>Data Engineering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38404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4632" y="1490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9BD5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Amazon S3 (data lake)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4632" y="1728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9BD5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Databricks (Spark / Delta Lake)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84632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9BD5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Medallion Architecture (Bronze/Silver/Gold)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84632" y="22037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9BD5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Schema validation &amp; null profiling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4632" y="2441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9BD5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Data merging &amp; deduplication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54880" y="9144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914400"/>
            <a:ext cx="54864" cy="1828800"/>
          </a:xfrm>
          <a:prstGeom prst="rect">
            <a:avLst/>
          </a:prstGeom>
          <a:solidFill>
            <a:srgbClr val="3A7EBF"/>
          </a:solidFill>
          <a:ln w="12700">
            <a:solidFill>
              <a:srgbClr val="3A7EB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0584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1808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</a:rPr>
              <a:t>Data Modelling &amp; SQL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92040" y="1417320"/>
            <a:ext cx="38404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919472" y="1490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EBF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RFM customer scoring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919472" y="1728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EBF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Cohort analysis tables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919472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EBF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Lifecycle state classification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919472" y="22037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EBF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Unified customer view design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919472" y="2441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EBF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Gold layer business logic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004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20040" y="2926080"/>
            <a:ext cx="54864" cy="1828800"/>
          </a:xfrm>
          <a:prstGeom prst="rect">
            <a:avLst/>
          </a:prstGeom>
          <a:solidFill>
            <a:srgbClr val="2ECC8B"/>
          </a:solidFill>
          <a:ln w="12700">
            <a:solidFill>
              <a:srgbClr val="2ECC8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1752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6968" y="3017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</a:rPr>
              <a:t>Analytics &amp; BI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57200" y="3429000"/>
            <a:ext cx="38404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4632" y="35021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8B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Looker dashboard development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484632" y="3739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8B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KPI framework design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84632" y="3977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8B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OKR → KPI → Metric pyramid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484632" y="4215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8B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Executive reporting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84632" y="4453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8B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Segment revenue analysis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75488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754880" y="2926080"/>
            <a:ext cx="54864" cy="1828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017520"/>
            <a:ext cx="347472" cy="34747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321808" y="3017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</a:rPr>
              <a:t>Business Analysis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4892040" y="3429000"/>
            <a:ext cx="38404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919472" y="35021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Retention &amp; churn analysis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4919472" y="3739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Customer segmentation strategy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4919472" y="3977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Funnel conversion analysis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4919472" y="4215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Quantified business impact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4919472" y="4453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2A3A4A"/>
                </a:solidFill>
              </a:rPr>
              <a:t>Actionable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62B3D"/>
          </a:solidFill>
          <a:ln w="12700">
            <a:solidFill>
              <a:srgbClr val="262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62B3D"/>
          </a:solidFill>
          <a:ln w="12700">
            <a:solidFill>
              <a:srgbClr val="262B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4747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E-Commerce Analytics,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Backed by Data.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32004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Built on Amazon S3  ·  Databricks  ·  Looker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</a:rPr>
              <a:t>93,358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Customers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148840" y="37033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</a:rPr>
              <a:t>$15.49M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14884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Revenue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749040" y="37033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</a:rPr>
              <a:t>4 KPIs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74904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Defined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349240" y="37033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</a:rPr>
              <a:t>3 Gold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34924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Tables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95160" y="457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9AA"/>
                </a:solidFill>
              </a:rPr>
              <a:t>Dataset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995160" y="777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Olist E-Commerce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+ Marketing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(Kaggle)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95160" y="1691640"/>
            <a:ext cx="1828800" cy="18288"/>
          </a:xfrm>
          <a:prstGeom prst="rect">
            <a:avLst/>
          </a:prstGeom>
          <a:solidFill>
            <a:srgbClr val="5B9BD5">
              <a:alpha val="5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9AA"/>
                </a:solidFill>
              </a:rPr>
              <a:t>Stack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95160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</a:rPr>
              <a:t>▸  Amazon S3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995160" y="2450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</a:rPr>
              <a:t>▸  Databricks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95160" y="2724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</a:rPr>
              <a:t>▸  Looker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995160" y="2999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</a:rPr>
              <a:t>▸  Python / SQL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GoodPulse — Portfolio Presentation</dc:title>
  <dc:subject>PptxGenJS Presentation</dc:subject>
  <dc:creator>PptxGenJS</dc:creator>
  <cp:lastModifiedBy>PptxGenJS</cp:lastModifiedBy>
  <cp:revision>1</cp:revision>
  <dcterms:created xsi:type="dcterms:W3CDTF">2026-02-26T17:39:21Z</dcterms:created>
  <dcterms:modified xsi:type="dcterms:W3CDTF">2026-02-26T17:39:21Z</dcterms:modified>
</cp:coreProperties>
</file>